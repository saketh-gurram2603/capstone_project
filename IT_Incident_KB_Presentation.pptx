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05A5A"/>
          </a:solidFill>
          <a:ln w="12700">
            <a:solidFill>
              <a:srgbClr val="F05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solidFill>
            <a:srgbClr val="F05A5A">
              <a:alpha val="10000"/>
            </a:srgbClr>
          </a:solidFill>
          <a:ln w="12700">
            <a:solidFill>
              <a:srgbClr val="F05A5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server is slow, the app keeps freezing, users can't connect from home —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even start?"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65176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5A5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57400"/>
            <a:ext cx="50292" cy="2651760"/>
          </a:xfrm>
          <a:prstGeom prst="rect">
            <a:avLst/>
          </a:prstGeom>
          <a:solidFill>
            <a:srgbClr val="F05A5A"/>
          </a:solidFill>
          <a:ln w="12700">
            <a:solidFill>
              <a:srgbClr val="F05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MANUAL SEARCH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05456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hours digging through thousands of historical tickets to find similar incidents.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057400"/>
            <a:ext cx="265176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5A5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057400"/>
            <a:ext cx="50292" cy="2651760"/>
          </a:xfrm>
          <a:prstGeom prst="rect">
            <a:avLst/>
          </a:prstGeom>
          <a:solidFill>
            <a:srgbClr val="F05A5A"/>
          </a:solidFill>
          <a:ln w="12700">
            <a:solidFill>
              <a:srgbClr val="F05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SILOED KNOWLEDGE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505456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resolves the same recurring incident from scratch. Proven fixes aren't shared or surfaced.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057400"/>
            <a:ext cx="265176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5A5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057400"/>
            <a:ext cx="50292" cy="2651760"/>
          </a:xfrm>
          <a:prstGeom prst="rect">
            <a:avLst/>
          </a:prstGeom>
          <a:solidFill>
            <a:srgbClr val="F05A5A"/>
          </a:solidFill>
          <a:ln w="12700">
            <a:solidFill>
              <a:srgbClr val="F05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NO PRIORITY SIGNAL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2505456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classify severity, predict resolution time, or route to the right specialist.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Slower incident resolution · Higher MTTR · Repeated mistakes · Engineer frustration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23C6A8"/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solidFill>
            <a:srgbClr val="23C6A8">
              <a:alpha val="12000"/>
            </a:srgbClr>
          </a:solidFill>
          <a:ln w="12700">
            <a:solidFill>
              <a:srgbClr val="23C6A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869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Knowledge Base that lets engineers describe a problem in plain English and instantly retrieve proven historical resolutions.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01168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4F8C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50292" cy="30175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8013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SEMANTIC SEARCH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3776" y="2157984"/>
            <a:ext cx="1810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vector search surfaces the most relevant past incidents in &lt; 200ms — no keyword guessing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737360"/>
            <a:ext cx="201168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4B74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737360"/>
            <a:ext cx="50292" cy="301752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2616" y="18013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AUTONOMOUS TRIAGE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42616" y="2157984"/>
            <a:ext cx="1810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3-tier AI agent (L1→L2→L3) classifies, investigates, and escalates incidents with no manual intervention.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201168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3C6A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737360"/>
            <a:ext cx="50292" cy="3017520"/>
          </a:xfrm>
          <a:prstGeom prst="rect">
            <a:avLst/>
          </a:prstGeom>
          <a:solidFill>
            <a:srgbClr val="23C6A8"/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8013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GUIDED RESOLUTION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91456" y="2157984"/>
            <a:ext cx="1810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chat interface walks engineers through proven fixes, capturing what works and what doesn't.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737360"/>
            <a:ext cx="201168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9B7FE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737360"/>
            <a:ext cx="50292" cy="3017520"/>
          </a:xfrm>
          <a:prstGeom prst="rect">
            <a:avLst/>
          </a:prstGeom>
          <a:solidFill>
            <a:srgbClr val="9B7FEA"/>
          </a:solidFill>
          <a:ln w="12700">
            <a:solidFill>
              <a:srgbClr val="9B7F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180136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QUALITY EVALUATION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40296" y="2157984"/>
            <a:ext cx="1810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LLM-as-Judge + custom metrics continuously measure and improve retrieval accuracy.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 historical incidents · 10 categories · 38 problem types · Azure OpenAI · Qdrant · LangGraph · DeepEval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Technical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4160520"/>
          </a:xfrm>
          <a:prstGeom prst="rect">
            <a:avLst/>
          </a:prstGeom>
          <a:solidFill>
            <a:srgbClr val="161B22"/>
          </a:solidFill>
          <a:ln w="12700">
            <a:solidFill>
              <a:srgbClr val="4F8C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50292" cy="41605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347472" cy="347472"/>
          </a:xfrm>
          <a:prstGeom prst="rect">
            <a:avLst/>
          </a:prstGeom>
          <a:solidFill>
            <a:srgbClr val="4F8CFF">
              <a:alpha val="28000"/>
            </a:srgbClr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3716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572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incident description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057400"/>
            <a:ext cx="347472" cy="347472"/>
          </a:xfrm>
          <a:prstGeom prst="rect">
            <a:avLst/>
          </a:prstGeom>
          <a:solidFill>
            <a:srgbClr val="4F8CFF">
              <a:alpha val="28000"/>
            </a:srgbClr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057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258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candidate count (3–20) based on query complexity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743200"/>
            <a:ext cx="347472" cy="347472"/>
          </a:xfrm>
          <a:prstGeom prst="rect">
            <a:avLst/>
          </a:prstGeom>
          <a:solidFill>
            <a:srgbClr val="4F8CFF">
              <a:alpha val="28000"/>
            </a:srgbClr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743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44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+ Ada-002 semantic search in parallel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429000"/>
            <a:ext cx="347472" cy="347472"/>
          </a:xfrm>
          <a:prstGeom prst="rect">
            <a:avLst/>
          </a:prstGeom>
          <a:solidFill>
            <a:srgbClr val="4F8CFF">
              <a:alpha val="28000"/>
            </a:srgbClr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429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+ Rerank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6301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fusion → cross-encoder reranker + recency signal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114800"/>
            <a:ext cx="347472" cy="347472"/>
          </a:xfrm>
          <a:prstGeom prst="rect">
            <a:avLst/>
          </a:prstGeom>
          <a:solidFill>
            <a:srgbClr val="4F8CFF">
              <a:alpha val="28000"/>
            </a:srgbClr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114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1148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Aggregator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3159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similar fixes · surfaces unique options with occurrence counts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868680"/>
            <a:ext cx="42062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B74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868680"/>
            <a:ext cx="50292" cy="192024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914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AGENT  (LangGraph)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28032" y="1325880"/>
            <a:ext cx="39136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GPT-4o-mini → KB search + confidence gate (≥ 0.80)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GPT-4o-mini + Tavily → web-augmented synthesis (≥ 0.55)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Auto-creates escalation ticket → Postgres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926080"/>
            <a:ext cx="420624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9B7FE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926080"/>
            <a:ext cx="50292" cy="2103120"/>
          </a:xfrm>
          <a:prstGeom prst="rect">
            <a:avLst/>
          </a:prstGeom>
          <a:solidFill>
            <a:srgbClr val="9B7FEA"/>
          </a:solidFill>
          <a:ln w="12700">
            <a:solidFill>
              <a:srgbClr val="9B7F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971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FEEDBACK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28032" y="3383280"/>
            <a:ext cx="391363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DeepEval: Faithfulness · AnswerRelevancy · CtxPrecision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Custom: Fix accuracy · Resolution time MAE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feedback in chat → Admin review queue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 resolution → live-ingested back to KB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23C6A8"/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pic>
        <p:nvPicPr>
          <p:cNvPr id="5" name="Image 0" descr="D:\soft_bank\capstone_project\image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04672"/>
            <a:ext cx="85953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Hybrid Search &amp; Resolution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4160520"/>
          </a:xfrm>
          <a:prstGeom prst="rect">
            <a:avLst/>
          </a:prstGeom>
          <a:solidFill>
            <a:srgbClr val="161B22"/>
          </a:solidFill>
          <a:ln w="12700">
            <a:solidFill>
              <a:srgbClr val="4F8C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50292" cy="41605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23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822192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types a plain-English incident description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+ Ada-002 semantic search run in parallel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merges and ranks both result sets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 + recency decay refines the top results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aggregator clusters all similar fixes, showing the top-N unique solutions with occurrence counts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0624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4F8C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50292" cy="18745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2354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 — SEARCH PAGE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28032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pPr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"Database connections timing out after deployment"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16916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 10 ranked incidents shown instantly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Resolution options panel: Fix 1 (×9 proven), Fix 2 (×4)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Filter by Category · Impact · Priority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880360"/>
            <a:ext cx="420624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3C6A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880360"/>
            <a:ext cx="50292" cy="2148840"/>
          </a:xfrm>
          <a:prstGeom prst="rect">
            <a:avLst/>
          </a:prstGeom>
          <a:solidFill>
            <a:srgbClr val="23C6A8"/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9352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28032" y="36576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search latency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39712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39712" y="36576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 metric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28032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28032" y="4434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39712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39712" y="4434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Autonomous Triage Agent  (L1 → L2 → L3)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74320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23C6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1481328"/>
            <a:ext cx="2523744" cy="20117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17904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KB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gate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834640"/>
            <a:ext cx="2523744" cy="292608"/>
          </a:xfrm>
          <a:prstGeom prst="rect">
            <a:avLst/>
          </a:prstGeom>
          <a:solidFill>
            <a:srgbClr val="23C6A8">
              <a:alpha val="18000"/>
            </a:srgbClr>
          </a:solidFill>
          <a:ln w="12700">
            <a:solidFill>
              <a:srgbClr val="23C6A8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8346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 → resolve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35808" y="150876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7B3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17520" y="1901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&lt; threshold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841248"/>
            <a:ext cx="274320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F4B7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10128" y="87782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120700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+ Web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10128" y="1481328"/>
            <a:ext cx="2523744" cy="20117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517904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synthesis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2834640"/>
            <a:ext cx="2523744" cy="292608"/>
          </a:xfrm>
          <a:prstGeom prst="rect">
            <a:avLst/>
          </a:prstGeom>
          <a:solidFill>
            <a:srgbClr val="F4B740">
              <a:alpha val="18000"/>
            </a:srgbClr>
          </a:solidFill>
          <a:ln w="12700">
            <a:solidFill>
              <a:srgbClr val="F4B740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8346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0.55 → resolve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61888" y="150876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7B3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43600" y="1901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&lt; threshold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841248"/>
            <a:ext cx="274320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5A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36208" y="87782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Specialist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36208" y="120700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36208" y="1481328"/>
            <a:ext cx="2523744" cy="20117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1517904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ticket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Postgres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36208" y="2834640"/>
            <a:ext cx="2523744" cy="292608"/>
          </a:xfrm>
          <a:prstGeom prst="rect">
            <a:avLst/>
          </a:prstGeom>
          <a:solidFill>
            <a:srgbClr val="F05A5A">
              <a:alpha val="18000"/>
            </a:srgbClr>
          </a:solidFill>
          <a:ln w="12700">
            <a:solidFill>
              <a:srgbClr val="F05A5A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283464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291840"/>
            <a:ext cx="41148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B74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291840"/>
            <a:ext cx="50292" cy="169164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 — TRIAGE PAGE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749040"/>
            <a:ext cx="38221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Describe: "MediaServer crashing with high CPU under peak load"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L1 searches KB, shows confidence score + reasoning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uncertain, L2 adds live web context automatically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unresolved, ticket created — visible in Admin Portal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3291840"/>
            <a:ext cx="420624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3C6A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291840"/>
            <a:ext cx="50292" cy="1691640"/>
          </a:xfrm>
          <a:prstGeom prst="rect">
            <a:avLst/>
          </a:prstGeom>
          <a:solidFill>
            <a:srgbClr val="23C6A8"/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34670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28032" y="3749040"/>
            <a:ext cx="391363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of incidents resolved automatically at L1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threshold: 0.80 confidence  ·  L2 threshold: 0.55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tickets visible + resolvable in Admin Portal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local fallback when API unavailable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23C6A8"/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— Guided Chat &amp; Feedback Loop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029200" cy="4160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3C6A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50292" cy="4160520"/>
          </a:xfrm>
          <a:prstGeom prst="rect">
            <a:avLst/>
          </a:prstGeom>
          <a:solidFill>
            <a:srgbClr val="23C6A8"/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235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JOURNEY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29184" cy="329184"/>
          </a:xfrm>
          <a:prstGeom prst="rect">
            <a:avLst/>
          </a:prstGeom>
          <a:solidFill>
            <a:srgbClr val="23C6A8">
              <a:alpha val="26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139903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describes the incident in natural language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329184" cy="329184"/>
          </a:xfrm>
          <a:prstGeom prst="rect">
            <a:avLst/>
          </a:prstGeom>
          <a:solidFill>
            <a:srgbClr val="23C6A8">
              <a:alpha val="26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56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1984248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retrieves relevant fixes from KB (Fix 1 of N, verified M× historically)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329184" cy="329184"/>
          </a:xfrm>
          <a:prstGeom prst="rect">
            <a:avLst/>
          </a:prstGeom>
          <a:solidFill>
            <a:srgbClr val="23C6A8">
              <a:alpha val="26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256946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tries Fix 1 → clicks 👍 (resolved) or 👎 (didn't work)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127248"/>
            <a:ext cx="329184" cy="329184"/>
          </a:xfrm>
          <a:prstGeom prst="rect">
            <a:avLst/>
          </a:prstGeom>
          <a:solidFill>
            <a:srgbClr val="23C6A8">
              <a:alpha val="26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315468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👎 opens a reason box → user explains what failed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712464"/>
            <a:ext cx="329184" cy="329184"/>
          </a:xfrm>
          <a:prstGeom prst="rect">
            <a:avLst/>
          </a:prstGeom>
          <a:solidFill>
            <a:srgbClr val="23C6A8">
              <a:alpha val="26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3739896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advances to Fix 2 automatically if needed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29184" cy="329184"/>
          </a:xfrm>
          <a:prstGeom prst="rect">
            <a:avLst/>
          </a:prstGeom>
          <a:solidFill>
            <a:srgbClr val="23C6A8">
              <a:alpha val="26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" y="4325112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fixes exhausted → auto-escalated to IT with full context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77840" y="868680"/>
            <a:ext cx="3291840" cy="4160520"/>
          </a:xfrm>
          <a:prstGeom prst="rect">
            <a:avLst/>
          </a:prstGeom>
          <a:solidFill>
            <a:srgbClr val="161B22"/>
          </a:solidFill>
          <a:ln w="12700">
            <a:solidFill>
              <a:srgbClr val="9B7FE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868680"/>
            <a:ext cx="50292" cy="4160520"/>
          </a:xfrm>
          <a:prstGeom prst="rect">
            <a:avLst/>
          </a:prstGeom>
          <a:solidFill>
            <a:srgbClr val="9B7FEA"/>
          </a:solidFill>
          <a:ln w="12700">
            <a:solidFill>
              <a:srgbClr val="9B7F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9235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FEEDBACK LOOP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42432" y="135331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  Thumbs up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42432" y="1591056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recorded · Fix marked effective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42432" y="1938528"/>
            <a:ext cx="2999232" cy="16459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202996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👎  Thumbs down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42432" y="226771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+ reason captured · Pending admin review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42432" y="2615184"/>
            <a:ext cx="2999232" cy="16459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2706624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Admin reviews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42432" y="294436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or dismiss · See which fixes consistently fail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42432" y="3291840"/>
            <a:ext cx="2999232" cy="16459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2432" y="338328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IT resolves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42432" y="362102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types resolution steps → instantly ingested into KB as a new searchable incident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42432" y="3968496"/>
            <a:ext cx="2999232" cy="16459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405993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KB improves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42432" y="42976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engineer searching the same issue finds the real-world fix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9B7FEA"/>
          </a:solidFill>
          <a:ln w="12700">
            <a:solidFill>
              <a:srgbClr val="9B7F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— Evaluation Suite &amp; Continuous Improvement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371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4F8CFF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371600" cy="3200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0525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207008"/>
            <a:ext cx="124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quality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444752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868680"/>
            <a:ext cx="1371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3C6A8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37360" y="868680"/>
            <a:ext cx="1371600" cy="32004"/>
          </a:xfrm>
          <a:prstGeom prst="rect">
            <a:avLst/>
          </a:prstGeom>
          <a:solidFill>
            <a:srgbClr val="23C6A8"/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90525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10512" y="1207008"/>
            <a:ext cx="124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rate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10512" y="1444752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868680"/>
            <a:ext cx="1371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4F8CFF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868680"/>
            <a:ext cx="1371600" cy="3200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90525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73552" y="1207008"/>
            <a:ext cx="124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73552" y="1444752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55%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1371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9B7FEA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868680"/>
            <a:ext cx="1371600" cy="32004"/>
          </a:xfrm>
          <a:prstGeom prst="rect">
            <a:avLst/>
          </a:prstGeom>
          <a:solidFill>
            <a:srgbClr val="9B7FEA"/>
          </a:solidFill>
          <a:ln w="12700">
            <a:solidFill>
              <a:srgbClr val="9B7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90525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6592" y="1207008"/>
            <a:ext cx="124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36592" y="1444752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868680"/>
            <a:ext cx="1371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4B740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868680"/>
            <a:ext cx="1371600" cy="32004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90525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Accuracy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1207008"/>
            <a:ext cx="124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metric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99632" y="1444752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9520" y="868680"/>
            <a:ext cx="13716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3C6A8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89520" y="868680"/>
            <a:ext cx="1371600" cy="32004"/>
          </a:xfrm>
          <a:prstGeom prst="rect">
            <a:avLst/>
          </a:prstGeom>
          <a:solidFill>
            <a:srgbClr val="23C6A8"/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905256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62672" y="1207008"/>
            <a:ext cx="124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hrs error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662672" y="1444752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1993392"/>
            <a:ext cx="4114800" cy="3035808"/>
          </a:xfrm>
          <a:prstGeom prst="rect">
            <a:avLst/>
          </a:prstGeom>
          <a:solidFill>
            <a:srgbClr val="161B22"/>
          </a:solidFill>
          <a:ln w="12700">
            <a:solidFill>
              <a:srgbClr val="9B7FE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1993392"/>
            <a:ext cx="50292" cy="3035808"/>
          </a:xfrm>
          <a:prstGeom prst="rect">
            <a:avLst/>
          </a:prstGeom>
          <a:solidFill>
            <a:srgbClr val="9B7FEA"/>
          </a:solidFill>
          <a:ln w="12700">
            <a:solidFill>
              <a:srgbClr val="9B7F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048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 — ANALYTICS PAGE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2450592"/>
            <a:ext cx="38221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'Run Evaluation' — processes 30 ground-truth test cases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metric card shows score, threshold, pass/fail badge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card → popup with 'Why this score' + improvement tips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toggle runs DeepEval Faithfulness + Relevancy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3749040"/>
            <a:ext cx="41148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B74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749040"/>
            <a:ext cx="50292" cy="123444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803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ADMIN PORTAL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206240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Tickets tab: OPEN → IN PROGRESS → RESOLVED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'Mark as Resolved' → IT types steps → live KB ingestion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1993392"/>
            <a:ext cx="4206240" cy="2990088"/>
          </a:xfrm>
          <a:prstGeom prst="rect">
            <a:avLst/>
          </a:prstGeom>
          <a:solidFill>
            <a:srgbClr val="161B22"/>
          </a:solidFill>
          <a:ln w="12700">
            <a:solidFill>
              <a:srgbClr val="23C6A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1993392"/>
            <a:ext cx="50292" cy="2990088"/>
          </a:xfrm>
          <a:prstGeom prst="rect">
            <a:avLst/>
          </a:prstGeom>
          <a:solidFill>
            <a:srgbClr val="23C6A8"/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204825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LOOP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28032" y="2532888"/>
            <a:ext cx="256032" cy="256032"/>
          </a:xfrm>
          <a:prstGeom prst="rect">
            <a:avLst/>
          </a:prstGeom>
          <a:solidFill>
            <a:srgbClr val="23C6A8">
              <a:alpha val="24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253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24505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uses chat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66360" y="26517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and attempts fixes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28032" y="2935224"/>
            <a:ext cx="256032" cy="256032"/>
          </a:xfrm>
          <a:prstGeom prst="rect">
            <a:avLst/>
          </a:prstGeom>
          <a:solidFill>
            <a:srgbClr val="23C6A8">
              <a:alpha val="24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2935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28529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captured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66360" y="305409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+ optional reason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28032" y="3337560"/>
            <a:ext cx="256032" cy="256032"/>
          </a:xfrm>
          <a:prstGeom prst="rect">
            <a:avLst/>
          </a:prstGeom>
          <a:solidFill>
            <a:srgbClr val="23C6A8">
              <a:alpha val="24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66360" y="32552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queue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66360" y="34564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or dismisses each item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28032" y="3739896"/>
            <a:ext cx="256032" cy="256032"/>
          </a:xfrm>
          <a:prstGeom prst="rect">
            <a:avLst/>
          </a:prstGeom>
          <a:solidFill>
            <a:srgbClr val="23C6A8">
              <a:alpha val="24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8032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166360" y="3657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 resolves ticket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166360" y="38587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what actually worked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28032" y="4142232"/>
            <a:ext cx="256032" cy="256032"/>
          </a:xfrm>
          <a:prstGeom prst="rect">
            <a:avLst/>
          </a:prstGeom>
          <a:solidFill>
            <a:srgbClr val="23C6A8">
              <a:alpha val="24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4142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166360" y="40599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ingested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166360" y="42611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Upserted into Qdrant + BM25 live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828032" y="4544568"/>
            <a:ext cx="256032" cy="256032"/>
          </a:xfrm>
          <a:prstGeom prst="rect">
            <a:avLst/>
          </a:prstGeom>
          <a:solidFill>
            <a:srgbClr val="23C6A8">
              <a:alpha val="24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28032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166360" y="44622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grows organically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66360" y="46634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search surfaces the real fix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65760" y="48737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knowledge base gets smarter with every incident the team resolves."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Incident Knowledge Base Assistant</dc:title>
  <dc:subject>PptxGenJS Presentation</dc:subject>
  <dc:creator>Incident KB</dc:creator>
  <cp:lastModifiedBy>Incident KB</cp:lastModifiedBy>
  <cp:revision>1</cp:revision>
  <dcterms:created xsi:type="dcterms:W3CDTF">2026-06-02T18:00:31Z</dcterms:created>
  <dcterms:modified xsi:type="dcterms:W3CDTF">2026-06-02T18:00:31Z</dcterms:modified>
</cp:coreProperties>
</file>