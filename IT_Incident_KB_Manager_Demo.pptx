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5029200" cy="5029200"/>
          </a:xfrm>
          <a:prstGeom prst="ellipse">
            <a:avLst/>
          </a:prstGeom>
          <a:solidFill>
            <a:srgbClr val="4F8CFF">
              <a:alpha val="10000"/>
            </a:srgbClr>
          </a:solidFill>
          <a:ln w="12700">
            <a:solidFill>
              <a:srgbClr val="4F8CFF">
                <a:alpha val="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2560320"/>
            <a:ext cx="4114800" cy="4114800"/>
          </a:xfrm>
          <a:prstGeom prst="ellipse">
            <a:avLst/>
          </a:prstGeom>
          <a:solidFill>
            <a:srgbClr val="23C6A8">
              <a:alpha val="10000"/>
            </a:srgbClr>
          </a:solidFill>
          <a:ln w="12700">
            <a:solidFill>
              <a:srgbClr val="23C6A8">
                <a:alpha val="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50292" cy="2423160"/>
          </a:xfrm>
          <a:prstGeom prst="rect">
            <a:avLst/>
          </a:prstGeom>
          <a:solidFill>
            <a:srgbClr val="23C6A8"/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7132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Incident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Assistant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7132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IT Incident Resolution Through Intelligent Retrieval &amp; Autonomous Triage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40156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 Azure OpenAI  ·  Qdrant  ·  LangGraph  ·  React 18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913632"/>
            <a:ext cx="6583680" cy="457200"/>
          </a:xfrm>
          <a:prstGeom prst="rect">
            <a:avLst/>
          </a:prstGeom>
          <a:solidFill>
            <a:srgbClr val="23C6A8">
              <a:alpha val="12000"/>
            </a:srgbClr>
          </a:solidFill>
          <a:ln w="12700">
            <a:solidFill>
              <a:srgbClr val="23C6A8">
                <a:alpha val="3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9136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hours of manual search   →   seconds of AI-powered answers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0117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804672"/>
            <a:ext cx="4069080" cy="4041648"/>
          </a:xfrm>
          <a:prstGeom prst="rect">
            <a:avLst/>
          </a:prstGeom>
          <a:solidFill>
            <a:srgbClr val="160A0A"/>
          </a:solidFill>
          <a:ln w="12700">
            <a:solidFill>
              <a:srgbClr val="F05A5A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069080" cy="411480"/>
          </a:xfrm>
          <a:prstGeom prst="rect">
            <a:avLst/>
          </a:prstGeom>
          <a:solidFill>
            <a:srgbClr val="F05A5A">
              <a:alpha val="28000"/>
            </a:srgbClr>
          </a:solidFill>
          <a:ln w="12700">
            <a:solidFill>
              <a:srgbClr val="F05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0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7490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 teams manually search thousands of past tickets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time: hours digging through unstructured records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is siloed — repeated incidents resolved from scratch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way to surface and rank proven fixes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61104" y="2487168"/>
            <a:ext cx="621792" cy="621792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61104" y="2487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804672"/>
            <a:ext cx="4069080" cy="4041648"/>
          </a:xfrm>
          <a:prstGeom prst="rect">
            <a:avLst/>
          </a:prstGeom>
          <a:solidFill>
            <a:srgbClr val="091512"/>
          </a:solidFill>
          <a:ln w="12700">
            <a:solidFill>
              <a:srgbClr val="23C6A8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804672"/>
            <a:ext cx="4069080" cy="411480"/>
          </a:xfrm>
          <a:prstGeom prst="rect">
            <a:avLst/>
          </a:prstGeom>
          <a:solidFill>
            <a:srgbClr val="23C6A8">
              <a:alpha val="28000"/>
            </a:srgbClr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804672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56048" y="1298448"/>
            <a:ext cx="3767328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query → ranked results from incident history instantly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synthesises all proven resolutions, ranked by frequency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autonomous triage agent: L1 → L2 → L3 with confidence gates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chat walks engineers through fix steps one by one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feedback loop surfaces failed fixes for continuous improvement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—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749808"/>
            <a:ext cx="1965960" cy="566928"/>
          </a:xfrm>
          <a:prstGeom prst="rect">
            <a:avLst/>
          </a:prstGeom>
          <a:solidFill>
            <a:srgbClr val="161B22"/>
          </a:solidFill>
          <a:ln w="19050">
            <a:solidFill>
              <a:srgbClr val="4F8C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28600" y="74980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468880" y="749808"/>
            <a:ext cx="1965960" cy="566928"/>
          </a:xfrm>
          <a:prstGeom prst="rect">
            <a:avLst/>
          </a:prstGeom>
          <a:solidFill>
            <a:srgbClr val="161B22"/>
          </a:solidFill>
          <a:ln w="19050">
            <a:solidFill>
              <a:srgbClr val="4F8C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468880" y="74980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Engine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749808"/>
            <a:ext cx="1965960" cy="566928"/>
          </a:xfrm>
          <a:prstGeom prst="rect">
            <a:avLst/>
          </a:prstGeom>
          <a:solidFill>
            <a:srgbClr val="161B22"/>
          </a:solidFill>
          <a:ln w="19050">
            <a:solidFill>
              <a:srgbClr val="F4B74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74980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AI Agent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0" y="749808"/>
            <a:ext cx="1965960" cy="566928"/>
          </a:xfrm>
          <a:prstGeom prst="rect">
            <a:avLst/>
          </a:prstGeom>
          <a:solidFill>
            <a:srgbClr val="161B22"/>
          </a:solidFill>
          <a:ln w="19050">
            <a:solidFill>
              <a:srgbClr val="23C6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0" y="749808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+ Steps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7B3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34840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7B3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841248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7B3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28600" y="1508760"/>
            <a:ext cx="2066544" cy="3337560"/>
          </a:xfrm>
          <a:prstGeom prst="rect">
            <a:avLst/>
          </a:prstGeom>
          <a:solidFill>
            <a:srgbClr val="161B22"/>
          </a:solidFill>
          <a:ln w="12700">
            <a:solidFill>
              <a:srgbClr val="4F8CFF">
                <a:alpha val="5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1508760"/>
            <a:ext cx="2066544" cy="402336"/>
          </a:xfrm>
          <a:prstGeom prst="rect">
            <a:avLst/>
          </a:prstGeom>
          <a:solidFill>
            <a:srgbClr val="4F8CFF">
              <a:alpha val="32000"/>
            </a:srgbClr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508760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ENGINE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1984248"/>
            <a:ext cx="1929384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keyword search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ada-002 semantic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RRF score fusion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Adaptive-K selection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32304" y="1508760"/>
            <a:ext cx="2066544" cy="3337560"/>
          </a:xfrm>
          <a:prstGeom prst="rect">
            <a:avLst/>
          </a:prstGeom>
          <a:solidFill>
            <a:srgbClr val="161B22"/>
          </a:solidFill>
          <a:ln w="12700">
            <a:solidFill>
              <a:srgbClr val="F4B740">
                <a:alpha val="5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32304" y="1508760"/>
            <a:ext cx="2066544" cy="402336"/>
          </a:xfrm>
          <a:prstGeom prst="rect">
            <a:avLst/>
          </a:prstGeom>
          <a:solidFill>
            <a:srgbClr val="F4B740">
              <a:alpha val="32000"/>
            </a:srgbClr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32304" y="1508760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 (LangGraph)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23744" y="1984248"/>
            <a:ext cx="1929384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L1: GPT-4o-mini + KB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L2: GPT-4o-mini + Web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L3: Auto-escalation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gate routing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Flan-T5 local fallback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36008" y="1508760"/>
            <a:ext cx="2066544" cy="3337560"/>
          </a:xfrm>
          <a:prstGeom prst="rect">
            <a:avLst/>
          </a:prstGeom>
          <a:solidFill>
            <a:srgbClr val="161B22"/>
          </a:solidFill>
          <a:ln w="12700">
            <a:solidFill>
              <a:srgbClr val="9B7FEA">
                <a:alpha val="5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36008" y="1508760"/>
            <a:ext cx="2066544" cy="402336"/>
          </a:xfrm>
          <a:prstGeom prst="rect">
            <a:avLst/>
          </a:prstGeom>
          <a:solidFill>
            <a:srgbClr val="9B7FEA">
              <a:alpha val="32000"/>
            </a:srgbClr>
          </a:solidFill>
          <a:ln w="12700">
            <a:solidFill>
              <a:srgbClr val="9B7F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36008" y="1508760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9B7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27448" y="1984248"/>
            <a:ext cx="1929384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async ASGI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API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DB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PostgreSQL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Compose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39712" y="1508760"/>
            <a:ext cx="2066544" cy="3337560"/>
          </a:xfrm>
          <a:prstGeom prst="rect">
            <a:avLst/>
          </a:prstGeom>
          <a:solidFill>
            <a:srgbClr val="161B22"/>
          </a:solidFill>
          <a:ln w="12700">
            <a:solidFill>
              <a:srgbClr val="23C6A8">
                <a:alpha val="5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39712" y="1508760"/>
            <a:ext cx="2066544" cy="402336"/>
          </a:xfrm>
          <a:prstGeom prst="rect">
            <a:avLst/>
          </a:prstGeom>
          <a:solidFill>
            <a:srgbClr val="23C6A8">
              <a:alpha val="32000"/>
            </a:srgbClr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9712" y="1508760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EVAL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931152" y="1984248"/>
            <a:ext cx="1929384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Vite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DeepEval LLM-as-Judge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 · MAP · Recall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feedback portal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 in the Demo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" y="758952"/>
            <a:ext cx="4160520" cy="1847088"/>
          </a:xfrm>
          <a:prstGeom prst="rect">
            <a:avLst/>
          </a:prstGeom>
          <a:solidFill>
            <a:srgbClr val="161B22"/>
          </a:solidFill>
          <a:ln w="12700">
            <a:solidFill>
              <a:srgbClr val="4F8CFF">
                <a:alpha val="5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8600" y="758952"/>
            <a:ext cx="59436" cy="1847088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50392"/>
            <a:ext cx="3904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SEARCH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179576"/>
            <a:ext cx="39044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an incident in plain English — get ranked historical matches with proven resolutions in &lt; 200ms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3950208" cy="694944"/>
          </a:xfrm>
          <a:prstGeom prst="rect">
            <a:avLst/>
          </a:prstGeom>
          <a:solidFill>
            <a:srgbClr val="0A0D12"/>
          </a:solidFill>
          <a:ln w="6350">
            <a:solidFill>
              <a:srgbClr val="4F8CFF">
                <a:alpha val="4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783080"/>
            <a:ext cx="382219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F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Query: "Database connections timing out after deployment"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F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Top 10 incidents  ·  3 unique proven fixes  ·  187ms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758952"/>
            <a:ext cx="4160520" cy="1847088"/>
          </a:xfrm>
          <a:prstGeom prst="rect">
            <a:avLst/>
          </a:prstGeom>
          <a:solidFill>
            <a:srgbClr val="161B22"/>
          </a:solidFill>
          <a:ln w="12700">
            <a:solidFill>
              <a:srgbClr val="F4B740">
                <a:alpha val="5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758952"/>
            <a:ext cx="59436" cy="1847088"/>
          </a:xfrm>
          <a:prstGeom prst="rect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850392"/>
            <a:ext cx="3904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TRIAGE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179576"/>
            <a:ext cx="39044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LangGraph agent resolves 80%+ of incidents at L1. L2 adds live web context. L3 auto-escalates.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892040" y="1783080"/>
            <a:ext cx="3950208" cy="694944"/>
          </a:xfrm>
          <a:prstGeom prst="rect">
            <a:avLst/>
          </a:prstGeom>
          <a:solidFill>
            <a:srgbClr val="0A0D12"/>
          </a:solidFill>
          <a:ln w="6350">
            <a:solidFill>
              <a:srgbClr val="F4B740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1783080"/>
            <a:ext cx="382219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 (GPT-4o-mini)  →  confidence 0.87  ✓ resolved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 adds Tavily web search  →  if L1 &lt; 0.80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4B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  →  escalation ticket created in Postgres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2743200"/>
            <a:ext cx="4160520" cy="1847088"/>
          </a:xfrm>
          <a:prstGeom prst="rect">
            <a:avLst/>
          </a:prstGeom>
          <a:solidFill>
            <a:srgbClr val="161B22"/>
          </a:solidFill>
          <a:ln w="12700">
            <a:solidFill>
              <a:srgbClr val="23C6A8">
                <a:alpha val="5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743200"/>
            <a:ext cx="59436" cy="1847088"/>
          </a:xfrm>
          <a:prstGeom prst="rect">
            <a:avLst/>
          </a:prstGeom>
          <a:solidFill>
            <a:srgbClr val="23C6A8"/>
          </a:solidFill>
          <a:ln w="12700">
            <a:solidFill>
              <a:srgbClr val="23C6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834640"/>
            <a:ext cx="3904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3C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CHAT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163824"/>
            <a:ext cx="39044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fix walkthrough with live feedback capture. Failed fixes surface to the admin review queue.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767328"/>
            <a:ext cx="3950208" cy="694944"/>
          </a:xfrm>
          <a:prstGeom prst="rect">
            <a:avLst/>
          </a:prstGeom>
          <a:solidFill>
            <a:srgbClr val="0A0D12"/>
          </a:solidFill>
          <a:ln w="6350">
            <a:solidFill>
              <a:srgbClr val="23C6A8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767328"/>
            <a:ext cx="382219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23C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 1 of 3  (verified 14× in KB)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3C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"This didn't work"  →  Fix 2 of 3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3C6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Negative feedback captured  →  Admin queue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743200"/>
            <a:ext cx="4160520" cy="1847088"/>
          </a:xfrm>
          <a:prstGeom prst="rect">
            <a:avLst/>
          </a:prstGeom>
          <a:solidFill>
            <a:srgbClr val="161B22"/>
          </a:solidFill>
          <a:ln w="12700">
            <a:solidFill>
              <a:srgbClr val="9B7FEA">
                <a:alpha val="5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743200"/>
            <a:ext cx="59436" cy="1847088"/>
          </a:xfrm>
          <a:prstGeom prst="rect">
            <a:avLst/>
          </a:prstGeom>
          <a:solidFill>
            <a:srgbClr val="9B7FEA"/>
          </a:solidFill>
          <a:ln w="12700">
            <a:solidFill>
              <a:srgbClr val="9B7F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834640"/>
            <a:ext cx="3904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9B7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163824"/>
            <a:ext cx="390448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feedback review queue. Verify or dismiss user-reported fix failures. Live pending badge.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92040" y="3767328"/>
            <a:ext cx="3950208" cy="694944"/>
          </a:xfrm>
          <a:prstGeom prst="rect">
            <a:avLst/>
          </a:prstGeom>
          <a:solidFill>
            <a:srgbClr val="0A0D12"/>
          </a:solidFill>
          <a:ln w="6350">
            <a:solidFill>
              <a:srgbClr val="9B7FEA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767328"/>
            <a:ext cx="382219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B7F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auto-refresh every 4s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B7F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Verify / Dismiss actions per row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B7F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 feedback by fix-position chart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882896"/>
            <a:ext cx="8412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 ·  Production-ready Docker deployment  ·  324 automated tests  ·  DeepEval quality gates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Incident Knowledge Base Assistant</dc:title>
  <dc:subject>PptxGenJS Presentation</dc:subject>
  <dc:creator>Incident KB</dc:creator>
  <cp:lastModifiedBy>Incident KB</cp:lastModifiedBy>
  <cp:revision>1</cp:revision>
  <dcterms:created xsi:type="dcterms:W3CDTF">2026-05-31T13:56:46Z</dcterms:created>
  <dcterms:modified xsi:type="dcterms:W3CDTF">2026-05-31T13:56:46Z</dcterms:modified>
</cp:coreProperties>
</file>